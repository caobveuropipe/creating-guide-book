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457200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USER OPERATION &amp; TEST GUIDE • LUỒNG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HƯỚNG DẪN THAO TÁC NGƯỜI DÙNG</a:t>
            </a:r>
          </a:p>
          <a:p>
            <a:pPr>
              <a:spcBef>
                <a:spcPts val="800"/>
              </a:spcBef>
              <a:defRPr sz="2800" b="1">
                <a:solidFill>
                  <a:srgbClr val="38BDF8"/>
                </a:solidFill>
              </a:defRPr>
            </a:pPr>
            <a:r>
              <a:t>Quản Trị Cơ Cấu Tổ Chức &amp; Đơn Vị Phân Cấp (OrgUnits)</a:t>
            </a:r>
          </a:p>
          <a:p>
            <a:pPr>
              <a:spcBef>
                <a:spcPts val="1600"/>
              </a:spcBef>
              <a:defRPr sz="1300">
                <a:solidFill>
                  <a:srgbClr val="94A3B8"/>
                </a:solidFill>
              </a:defRPr>
            </a:pPr>
            <a:r>
              <a:t>Quy trình chuẩn 10 bước thao tác trên giao diện • Cây phân cấp 5 tầng • Danh mục Line nhân sự Global • Chốt chặn Cascade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Hệ thống: VCC HR Tool • Môi trường Cloud Run Dev • Tài khoản: loi.quantrihethong@gmail.com • 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KIẾN TRÚC PHÂN CẤP TỔ CHỨC DOANH NGHIỆP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Tổng Quan Nghiệp Vụ &amp; Mô Hình Cơ Cấu 6 Tầng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CƠ CẤU 6 CẤP PHÂN QUYỀN (ORG UNITS)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Cấp 1: Khối (khoi): Cấp cao nhất phân lập phạm vi quản trị dữ liệu (EA/SA/VI/VA).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Cấp 2: Ban / BU / TT (bu): Các Khối kinh doanh, Ban điều hành, Trung tâm thành viên.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Cấp 3: Phòng ban (phong_ban): Đơn vị vận hành nghiệp vụ chính, trực tiếp gắn liền nhân sự.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Cấp 4: Bộ phận (bo_phan): Phân nhánh chuyên môn nội bộ trong phòng ban.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Cấp 5: Nhóm / Team (nhom_team): Tổ đội kỹ thuật, nhóm dự án hạt nhân cơ sở.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Cấp 6: Line Nhân Sự Global (line_nhan_su): Danh mục độc lập (parent_id = NULL) phân nhóm ngạch lương.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303520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5 QUY TẮC AN TOÀN VẬN HÀNH BẤT BIẾN</a:t>
            </a:r>
          </a:p>
          <a:p>
            <a:pPr>
              <a:spcBef>
                <a:spcPts val="800"/>
              </a:spcBef>
              <a:defRPr sz="1000" b="1">
                <a:solidFill>
                  <a:srgbClr val="1E293B"/>
                </a:solidFill>
              </a:defRPr>
            </a:pPr>
            <a:r>
              <a:t>✔ 1. Phân quyền Scope Guard: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   SuperAdmin toàn quyền; EA chỉ được thao tác trong các Khối được ủy quyền.</a:t>
            </a:r>
          </a:p>
          <a:p>
            <a:pPr>
              <a:spcBef>
                <a:spcPts val="800"/>
              </a:spcBef>
              <a:defRPr sz="1000" b="1">
                <a:solidFill>
                  <a:srgbClr val="1E293B"/>
                </a:solidFill>
              </a:defRPr>
            </a:pPr>
            <a:r>
              <a:t>✔ 2. Ràng buộc mã Khối (Khoi Constraint):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   Node con kế thừa mã Khối từ cha, tuyệt đối không tạo đơn vị lệch Khối.</a:t>
            </a:r>
          </a:p>
          <a:p>
            <a:pPr>
              <a:spcBef>
                <a:spcPts val="800"/>
              </a:spcBef>
              <a:defRPr sz="1000" b="1">
                <a:solidFill>
                  <a:srgbClr val="1E293B"/>
                </a:solidFill>
              </a:defRPr>
            </a:pPr>
            <a:r>
              <a:t>✔ 3. Trigger chuẩn hóa tên tự động: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   fn_trg_org_units_normalize_name tự động cắt tỉa khoảng trắng đầu/cuối và giữa từ.</a:t>
            </a:r>
          </a:p>
          <a:p>
            <a:pPr>
              <a:spcBef>
                <a:spcPts val="800"/>
              </a:spcBef>
              <a:defRPr sz="1000" b="1">
                <a:solidFill>
                  <a:srgbClr val="1E293B"/>
                </a:solidFill>
              </a:defRPr>
            </a:pPr>
            <a:r>
              <a:t>✔ 4. Chốt chặn Cascade Deactivation Guard: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   Chặn vô hiệu hóa node cha nếu có nhân sự đang làm việc hoặc node con active.</a:t>
            </a:r>
          </a:p>
          <a:p>
            <a:pPr>
              <a:spcBef>
                <a:spcPts val="800"/>
              </a:spcBef>
              <a:defRPr sz="1000" b="1">
                <a:solidFill>
                  <a:srgbClr val="1E293B"/>
                </a:solidFill>
              </a:defRPr>
            </a:pPr>
            <a:r>
              <a:t>✔ 5. Bảo toàn Temporal Assignment: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   Vô hiệu hóa chỉ chuyển trạng thái inactive, lưu giữ 100% lịch sử công tác.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CHECKLIST THAO TÁC NGƯỜI DÙNG &amp; KIỂM THỬ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Danh Mục 10 Bước Thao Tác Chuẩn Trên Giao Diện UI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377440"/>
                <a:gridCol w="5943600"/>
                <a:gridCol w="1280160"/>
              </a:tblGrid>
              <a:tr h="46551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Bước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Tên Thao Tác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Mục Đích &amp; Trọng Tâm Giao Diện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Ảnh Minh Chứng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Step 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Điều hướng cây 5 tầng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Xem cây đa cột đổ tầng Khối -&gt; BU -&gt; Phòng ban -&gt; Bộ phận -&gt; Nhóm team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SHOT-01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Step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Bộ lọc Khối &amp;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Lọc theo từng Khối, tìm kiếm nhanh theo từ khóa, xem đơn vị vô hiệu hóa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SHOT-02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Step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Mở menu 3 chấm (...)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Rê chuột vào dòng đơn vị để bung danh sách thao tác ngữ cảnh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SHOT-03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Step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Modal tạo mới 1-Click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Tạo đơn vị con với banner khóa ngữ cảnh cha tự động, chỉ cần gõ Tên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SHOT-04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Step 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Xác nhận tạo thành công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Toast popup báo thành công và node mới xuất hiện realtime trên cây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SHOT-05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Step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Chỉnh sửa tên đơn vị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Đổi tên đơn vị, tự động chuẩn hóa khoảng trắng thừa qua trigger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SHOT-06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Step 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Vô hiệu hóa đơn vị lá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Chuyển đơn vị rỗng sang Inactive, tên hiển thị nét gạch ngang an toàn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SHOT-07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Step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Cảnh báo Cascade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Chặn vô hiệu hóa node cha có con, hiển thị preview số lượng nodes 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SHOT-08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Step 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Xóa đơn vị tổ chức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Hộp thoại xác nhận xóa màu đỏ dành riêng cho tài khoản SuperAdmin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SHOT-09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55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Step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Quản lý Line Nhân Sự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Chuyển tab Line Global, xem danh sách bảng Table và thêm mới 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A34A"/>
                          </a:solidFill>
                        </a:defRPr>
                      </a:pPr>
                      <a:r>
                        <a:t>SHOT-10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LUỒNG 1: CƠ CẤU TỔ CHỨC &amp; ĐƠN VỊ • ĐIỀU HƯỚNG ĐA CỘT THÔNG SUỐT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Step 1: Xem &amp; Điều Hướng Cây Phân Cấp 5 Tầng</a:t>
            </a:r>
          </a:p>
        </p:txBody>
      </p:sp>
      <p:pic>
        <p:nvPicPr>
          <p:cNvPr id="3" name="Picture 2" descr="01_step_navigation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4577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0" y="1371600"/>
            <a:ext cx="34290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CÁC BƯỚC THAO TÁC THỰC TẾ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1. Chọn Khối tại Cột 1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Nhấp chuột chọn Khối 'Admicro'. Cột 2 lập tức hiển thị 9 BU trực thuộc.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2. Chọn BU tại Cột 2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Nhấp chuột chọn BU 'Sản phẩm lõi'.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3. Mở rộng Cột Phòng ban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Cột 3 hiển thị 4 phòng ban chuyên môn trực thuộc BU.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4. Xem Bộ phận &amp; Nhóm Team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Cột 4 &amp; 5 bung ra các tổ nhóm và bộ phận nghiệp vụ hạt nhân.</a:t>
            </a:r>
          </a:p>
          <a:p>
            <a:pPr>
              <a:spcBef>
                <a:spcPts val="800"/>
              </a:spcBef>
              <a:defRPr sz="1000" b="1">
                <a:solidFill>
                  <a:srgbClr val="16A34A"/>
                </a:solidFill>
              </a:defRPr>
            </a:pPr>
            <a:r>
              <a:t>✔ Tiêu chuẩn hoàn thành: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Cây 5 tầng mở liền mạch, node được chọn có viền sáng &amp; border 3px, phản hồi &lt; 100ms.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LUỒNG 1: CƠ CẤU TỔ CHỨC &amp; ĐƠN VỊ • TỐI ƯU HÓA TRA CỨU DANH MỤC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Step 2: Bộ Lọc Theo Khối &amp; Tìm Kiếm Nhanh</a:t>
            </a:r>
          </a:p>
        </p:txBody>
      </p:sp>
      <p:pic>
        <p:nvPicPr>
          <p:cNvPr id="3" name="Picture 2" descr="02_step_search_and_fil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4577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0" y="1371600"/>
            <a:ext cx="34290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CÁC BƯỚC THAO TÁC THỰC TẾ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1. Dropdown 'Lọc theo Khối'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Click chọn 1 Khối trên thanh công cụ để giới hạn phạm vi hiển thị cây.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2. Ô tìm kiếm tên đơn vị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Gõ từ khóa 'Soha', cây tự động ẩn các node không khớp từ khóa.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3. Switch hiển thị đơn vị vô hiệu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Gạt nút switch để tra cứu thêm các phòng ban đã đóng trong lịch sử.</a:t>
            </a:r>
          </a:p>
          <a:p>
            <a:pPr>
              <a:spcBef>
                <a:spcPts val="800"/>
              </a:spcBef>
              <a:defRPr sz="1000" b="1">
                <a:solidFill>
                  <a:srgbClr val="16A34A"/>
                </a:solidFill>
              </a:defRPr>
            </a:pPr>
            <a:r>
              <a:t>✔ Tiêu chuẩn hoàn thành: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Bộ lọc thực hiện realtime ngay trên RAM, không bị giật lag, switch toggle mượt mà.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LUỒNG 1: CƠ CẤU TỔ CHỨC &amp; ĐƠN VỊ • MENU HÀNH ĐỘNG THEO NGỮ CẢNH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Step 3: Rê Chuột Mở Menu Thao Tác 3 Chấm (...)</a:t>
            </a:r>
          </a:p>
        </p:txBody>
      </p:sp>
      <p:pic>
        <p:nvPicPr>
          <p:cNvPr id="3" name="Picture 2" descr="03_step_hover_dropdown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4577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0" y="1371600"/>
            <a:ext cx="34290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CÁC BƯỚC THAO TÁC THỰC TẾ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1. Rê chuột (Hover) vào đơn vị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Di chuột vào dòng bất kỳ, nút '...' (MoreOutlined) sẽ xuất hiện bên phải.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2. Bấm vào icon 3 chấm (...)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Menu xổ xuống hiển thị đầy đủ các thao tác được phép theo phân quyền.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3. Các nút chức năng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Thêm đơn vị con, Sửa tên đơn vị, Vô hiệu hóa và Vô hiệu hóa nhánh.</a:t>
            </a:r>
          </a:p>
          <a:p>
            <a:pPr>
              <a:spcBef>
                <a:spcPts val="800"/>
              </a:spcBef>
              <a:defRPr sz="1000" b="1">
                <a:solidFill>
                  <a:srgbClr val="16A34A"/>
                </a:solidFill>
              </a:defRPr>
            </a:pPr>
            <a:r>
              <a:t>✔ Tiêu chuẩn hoàn thành: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Menu ngữ cảnh tự căn chỉnh vị trí thông minh, không bị che khuất bởi cột bên cạnh.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LUỒNG 1: CƠ CẤU TỔ CHỨC &amp; ĐƠN VỊ • CƠ CHẾ TỰ KHÓA NGỮ CẢNH CHA AN TOÀN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Step 4: Modal Tạo Mới Đơn Vị Con 1-Click</a:t>
            </a:r>
          </a:p>
        </p:txBody>
      </p:sp>
      <p:pic>
        <p:nvPicPr>
          <p:cNvPr id="3" name="Picture 2" descr="04_step_modal_create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4577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0" y="1371600"/>
            <a:ext cx="34290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200" b="1">
                <a:solidFill>
                  <a:srgbClr val="16A34A"/>
                </a:solidFill>
              </a:defRPr>
            </a:pPr>
            <a:r>
              <a:t>CÁC BƯỚC THAO TÁC THỰC TẾ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1. Bấm '+ Thêm Bộ phận trực thuộc'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Hộp thoại Modal tạo mới bật lên giữa màn hình.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2. Kiểm tra Banner xanh khóa ngữ cảnh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Hệ thống tự động điền và khóa cố định Cấp tạo mới, Cha và Khối.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3. Nhập Tên đơn vị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Người dùng chỉ cần nhập duy nhất tên: 'Bộ Phận QA/QC Tự Động' rồi bấm Lưu.</a:t>
            </a:r>
          </a:p>
          <a:p>
            <a:pPr>
              <a:spcBef>
                <a:spcPts val="800"/>
              </a:spcBef>
              <a:defRPr sz="1000" b="1">
                <a:solidFill>
                  <a:srgbClr val="16A34A"/>
                </a:solidFill>
              </a:defRPr>
            </a:pPr>
            <a:r>
              <a:t>✔ Tiêu chuẩn hoàn thành: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Triệt tiêu 100% rủi ro chọn nhầm đơn vị cha lệch Khối hoặc sai cấp bậc phân cấp.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LUỒNG 1: CƠ CẤU TỔ CHỨC &amp; ĐƠN VỊ • GHI DỮ LIỆU &amp; ĐỒNG BỘ GIAO DIỆN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Step 5: Xác Nhận Tạo Mới &amp; Đối Soát Realtime</a:t>
            </a:r>
          </a:p>
        </p:txBody>
      </p:sp>
      <p:pic>
        <p:nvPicPr>
          <p:cNvPr id="3" name="Picture 2" descr="05_step_create_success_to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4577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0" y="1371600"/>
            <a:ext cx="34290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CÁC BƯỚC THAO TÁC THỰC TẾ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1. Bấm 'Lưu' trên Modal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Hệ thống gửi request POST /api/org-units đến Backend với mã phản hồi 201 Created.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2. Quan sát Toast thành công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Thông báo màu xanh 'Tạo đơn vị thành công!' bật lên ở góc trên bên phải.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3. Kiểm tra danh sách trên cây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Tên đơn vị mới lập tức xuất hiện trên cột mà không cần tải lại (F5) trang.</a:t>
            </a:r>
          </a:p>
          <a:p>
            <a:pPr>
              <a:spcBef>
                <a:spcPts val="800"/>
              </a:spcBef>
              <a:defRPr sz="1000" b="1">
                <a:solidFill>
                  <a:srgbClr val="16A34A"/>
                </a:solidFill>
              </a:defRPr>
            </a:pPr>
            <a:r>
              <a:t>✔ Tiêu chuẩn hoàn thành: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Dữ liệu đồng bộ 2 chiều tức thì, trạng thái cây giữ nguyên không bị reset về gốc.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LUỒNG 1: CƠ CẤU TỔ CHỨC &amp; ĐƠN VỊ • TRIGGER BẢO VỆ CHUẨN HÓA DỮ LIỆU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Step 6: Chỉnh Sửa Tên Đơn Vị Tổ Chức</a:t>
            </a:r>
          </a:p>
        </p:txBody>
      </p:sp>
      <p:pic>
        <p:nvPicPr>
          <p:cNvPr id="3" name="Picture 2" descr="06_step_modal_edit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4577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0" y="1371600"/>
            <a:ext cx="34290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200" b="1">
                <a:solidFill>
                  <a:srgbClr val="9333EA"/>
                </a:solidFill>
              </a:defRPr>
            </a:pPr>
            <a:r>
              <a:t>CÁC BƯỚC THAO TÁC THỰC TẾ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1. Bấm 'Sửa tên đơn vị' từ menu (...)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Hộp thoại sửa tên mở lên với tên hiện tại được điền sẵn.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2. Nhập tên chỉnh sửa mới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Sửa tên thành: 'Bộ Phận QA/QC Tự Động (Đã Cập Nhật)'.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3. Cơ chế Trigger tự động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Trigger backend tự động trim khoảng trắng thừa đầu cuối và giữa các từ.</a:t>
            </a:r>
          </a:p>
          <a:p>
            <a:pPr>
              <a:spcBef>
                <a:spcPts val="800"/>
              </a:spcBef>
              <a:defRPr sz="1000" b="1">
                <a:solidFill>
                  <a:srgbClr val="16A34A"/>
                </a:solidFill>
              </a:defRPr>
            </a:pPr>
            <a:r>
              <a:t>✔ Tiêu chuẩn hoàn thành: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Tên cập nhật thành công, API trả mã 200 OK, cây hiển thị tên mới ngay lập tức.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LUỒNG 1: CƠ CẤU TỔ CHỨC &amp; ĐƠN VỊ • BẢO TOÀN LỊCH SỬ TEMPORAL ASSIGNMENT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Step 7: Vô Hiệu Hóa Đơn Vị Lá (An Toàn)</a:t>
            </a:r>
          </a:p>
        </p:txBody>
      </p:sp>
      <p:pic>
        <p:nvPicPr>
          <p:cNvPr id="3" name="Picture 2" descr="07_step_toggle_leaf_in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4577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0" y="1371600"/>
            <a:ext cx="34290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CÁC BƯỚC THAO TÁC THỰC TẾ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1. Chọn 'Vô hiệu hóa' cho đơn vị rỗng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Thao tác trên đơn vị lá không có nhánh con và không có nhân viên active.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2. Chuyển trạng thái an toàn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Đơn vị được chuyển cờ is_active = false trong cơ sở dữ liệu.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3. Quan sát trên giao diện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Bật switch 'Hiển thị đơn vị đã vô hiệu': tên đơn vị hiển thị nét gạch ngang và mờ đi.</a:t>
            </a:r>
          </a:p>
          <a:p>
            <a:pPr>
              <a:spcBef>
                <a:spcPts val="800"/>
              </a:spcBef>
              <a:defRPr sz="1000" b="1">
                <a:solidFill>
                  <a:srgbClr val="16A34A"/>
                </a:solidFill>
              </a:defRPr>
            </a:pPr>
            <a:r>
              <a:t>✔ Tiêu chuẩn hoàn thành: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Tuyệt đối không xóa cứng (Hard delete), bảo toàn toàn vẹn lịch sử phân bổ nhân sự cũ.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LUỒNG 1: CƠ CẤU TỔ CHỨC &amp; ĐƠN VỊ • CHỐT CHẶN AN TOÀN P6 CHỐNG NODE MỒ CÔI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Step 8: Cơ Chế Bảo Vệ Cascade Deactivation Guard</a:t>
            </a:r>
          </a:p>
        </p:txBody>
      </p:sp>
      <p:pic>
        <p:nvPicPr>
          <p:cNvPr id="3" name="Picture 2" descr="08_step_cascade_deactivate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4577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0" y="1371600"/>
            <a:ext cx="34290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200" b="1">
                <a:solidFill>
                  <a:srgbClr val="E11D48"/>
                </a:solidFill>
              </a:defRPr>
            </a:pPr>
            <a:r>
              <a:t>CÁC BƯỚC THAO TÁC THỰC TẾ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1. Ngăn chặn tắt trực tiếp node cha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Nếu bấm tắt node cha đang có con, hệ thống cảnh báo yêu cầu Cascade Guard.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2. Chọn 'Vô hiệu hóa nhánh'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Hộp thoại Modal Cascade Deactivate hiển thị preview số node con bị ảnh hưởng.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3. Xác nhận vô hiệu hóa toàn bộ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Hệ thống đóng đồng loạt node cha và các nhánh con, đảm bảo không node nào mồ côi.</a:t>
            </a:r>
          </a:p>
          <a:p>
            <a:pPr>
              <a:spcBef>
                <a:spcPts val="800"/>
              </a:spcBef>
              <a:defRPr sz="1000" b="1">
                <a:solidFill>
                  <a:srgbClr val="16A34A"/>
                </a:solidFill>
              </a:defRPr>
            </a:pPr>
            <a:r>
              <a:t>✔ Tiêu chuẩn hoàn thành: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Bảo vệ cấu trúc cây luôn toàn vẹn, cảnh báo chính xác tổng số node con chịu tác động.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LUỒNG 1: CƠ CẤU TỔ CHỨC &amp; ĐƠN VỊ • PHÂN QUYỀN TỐI CAO &amp; HỘP THOẠI XÁC NHẬN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Step 9: Xóa Đơn Vị Tổ Chức (SuperAdmin Only)</a:t>
            </a:r>
          </a:p>
        </p:txBody>
      </p:sp>
      <p:pic>
        <p:nvPicPr>
          <p:cNvPr id="3" name="Picture 2" descr="09_step_delete_confirm_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4577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0" y="1371600"/>
            <a:ext cx="34290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200" b="1">
                <a:solidFill>
                  <a:srgbClr val="E11D48"/>
                </a:solidFill>
              </a:defRPr>
            </a:pPr>
            <a:r>
              <a:t>CÁC BƯỚC THAO TÁC THỰC TẾ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1. Điểm phân quyền SuperAdmin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Chỉ tài khoản SuperAdmin mới hiển thị nút 'Xóa đơn vị' màu đỏ.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2. Hộp thoại xác nhận cảnh báo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Popconfirm màu đỏ yêu cầu người dùng xác nhận chắc chắn trước khi xóa.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3. Điều kiện tiên quyết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Đơn vị phải không chứa nhân sự active; sau khi xóa, node biến mất hoàn toàn.</a:t>
            </a:r>
          </a:p>
          <a:p>
            <a:pPr>
              <a:spcBef>
                <a:spcPts val="800"/>
              </a:spcBef>
              <a:defRPr sz="1000" b="1">
                <a:solidFill>
                  <a:srgbClr val="16A34A"/>
                </a:solidFill>
              </a:defRPr>
            </a:pPr>
            <a:r>
              <a:t>✔ Tiêu chuẩn hoàn thành: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Chống xóa nhầm dữ liệu, API DELETE trả 200 OK và ghi nhận audit log đầy đủ.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LUỒNG 1: CƠ CẤU TỔ CHỨC &amp; ĐƠN VỊ • DANH MỤC NGẠCH LƯƠNG ĐỘC LẬP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Step 10: Quản Lý Danh Mục Line Nhân Sự Global</a:t>
            </a:r>
          </a:p>
        </p:txBody>
      </p:sp>
      <p:pic>
        <p:nvPicPr>
          <p:cNvPr id="3" name="Picture 2" descr="10_step_line_global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4577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0" y="1371600"/>
            <a:ext cx="34290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200" b="1">
                <a:solidFill>
                  <a:srgbClr val="9333EA"/>
                </a:solidFill>
              </a:defRPr>
            </a:pPr>
            <a:r>
              <a:t>CÁC BƯỚC THAO TÁC THỰC TẾ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1. Chuyển sang Tab 2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Nhấp chuột vào Tab 'Danh Mục Line Nhân Sự Global' trên thanh đầu trang.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2. Xem bảng Table danh mục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Bảng hiển thị các Line: Kinh doanh, Sản xuất, Kỹ thuật, Gián tiếp (parent_id = NULL).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3. Nút '+ Thêm Line Nhân sự'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Bật modal tạo Line mới, cấu hình trạng thái hoạt động độc lập toàn công ty.</a:t>
            </a:r>
          </a:p>
          <a:p>
            <a:pPr>
              <a:spcBef>
                <a:spcPts val="800"/>
              </a:spcBef>
              <a:defRPr sz="1000" b="1">
                <a:solidFill>
                  <a:srgbClr val="16A34A"/>
                </a:solidFill>
              </a:defRPr>
            </a:pPr>
            <a:r>
              <a:t>✔ Tiêu chuẩn hoàn thành: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Quản lý danh mục Line dùng chung toàn hệ thống, tách biệt hoàn toàn khỏi cây phân cấp 5 tầng.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HƯỚNG DẪN VẬN HÀNH AN TOÀN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Tổng Kết Vận Hành &amp; Khuyến Nghị Dành Cho Quản Trị Viên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2900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QUY TẮC PHÂN QUYỀN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Executive Admin (EA): Quản lý toàn bộ cơ cấu trong Khối được giao, không can thiệp Khối khác.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SuperAdmin (SA): Có quyền tạo Khối gốc, đổi tên Khối và thực hiện xóa đơn vị tổ chức.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Viewer (VI): Chỉ có quyền tra cứu danh mục, các nút tạo mới và menu (...) bị ẩn.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42900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AN TOÀN DỮ LIỆU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Không tự ý vô hiệu hóa các đơn vị đang có nhân sự active.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Ưu tiên sử dụng cơ chế Context-Aware 1-Click để tạo đơn vị con chính xác.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Luôn bật switch 'Hiển thị đơn vị đã vô hiệu hóa' khi cần tra cứu lịch sử cơ cấu cũ.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42900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HỖ TRỢ KỸ THUẬT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Môi trường chạy: Cloud Run Frontend &amp; Supabase Cloud PostgreSQL Backend.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Mọi sự cố bất thường vui lòng báo Quản trị viên hệ thống để kiểm tra Audit Log.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Dữ liệu được sao lưu định kỳ và bảo toàn cấu trúc lịch sử theo thời gian.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